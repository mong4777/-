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참부모론 해설 강의의 첫 시간, 총서입니다. 오늘의 제목은 ‘꿈에도 그리던 꿈’입니다. 여러분의 꿈에서 출발해 하늘부모님의 꿈으로 이야기를 이어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잠시 시간을 주고 몇 명에게 자유롭게 대답하게 합니다. 정답은 없습니다. 각자의 꿈을 입 밖으로 꺼내 보는 것이 목적입니다.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개인의 꿈, 가족을 향한 부모님의 바람, 나라와 인류의 평화를 바라는 마음까지 꿈의 범위를 넓혀 가며 소개합니다. 꿈은 사람을 움직이는 힘이라는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질문을 뒤집는 전환 슬라이드입니다. 우리에게 꿈이 있듯, 우리를 창조하신 하늘부모님께도 꿈이 있지 않을까 하는 질문을 던지고 본론으로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우리는 하늘부모님께 도움을 구해 왔지만, 정작 부모님의 마음과 꿈은 알지 못했습니다. 부모의 마음을 모르는 철부지 자녀, 뿌리 없이 떠도는 부평초 같은 인생이라는 표현으로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하늘부모님의 꿈을 세 가지로 정리합니다. 사람과 하나 되어 함께 사는 것, 그 집으로 천주를 지으신 것, 그리고 스스로 성장해 성혼한 한 남자와 한 여자가 하나 되는 천지인참부모의 모습입니다.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하늘부모님의 꿈이 향하는 최종 모습은 인류 한 가족 세계, 곧 참부모이상입니다. 앞으로 강의 전체가 이 이상을 향해 나아갑니다.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앞으로 이어질 강의의 흐름을 미리 보여 줍니다. 창조와 타락(1~2장), 이스라엘 선민과 독생자 예수님(3~4장), 한민족 선민과 참부모님 현현(5~7장), 참부모님의 섭리와 천일국(8~9장) 순으로 하늘부모님의 꿈이 이루어져 온 과정을 따라갑니다.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도입에서 떠올린 각자의 꿈을 다시 생각해 보게 합니다. 사람의 모든 꿈은 하늘부모님의 꿈에서 비롯되었으며, 본질은 사랑으로 함께 살며 행복을 이루는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앞으로의 강의를 통해 세 가지 질문의 답을 함께 찾아가자고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강의의 결론입니다. 하늘부모님의 꿈이 이루어질 때 나의 꿈도 참된 의미를 찾으며, 나는 그 꿈의 주인공이라는 점을 마음에 새기며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B3FB0"/>
            </a:gs>
            <a:gs pos="100000">
              <a:srgbClr val="DCCBF0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822960"/>
            <a:ext cx="4023360" cy="4023360"/>
          </a:xfrm>
          <a:prstGeom prst="ellipse">
            <a:avLst/>
          </a:prstGeom>
          <a:solidFill>
            <a:srgbClr val="B9A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463040"/>
            <a:ext cx="2743200" cy="2743200"/>
          </a:xfrm>
          <a:prstGeom prst="ellipse">
            <a:avLst/>
          </a:prstGeom>
          <a:solidFill>
            <a:srgbClr val="7E5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0" y="502920"/>
            <a:ext cx="5303520" cy="2743200"/>
          </a:xfrm>
          <a:prstGeom prst="ellipse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874519"/>
            <a:ext cx="640080" cy="64008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0" y="1234440"/>
            <a:ext cx="384048" cy="38404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612880" y="2011680"/>
            <a:ext cx="256032" cy="256032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448056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참부모론 해설 강의안 · 성화학생용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858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Malgun Gothic"/>
              </a:rPr>
              <a:t>꿈에도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Malgun Gothic"/>
              </a:rPr>
              <a:t>그리던 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47091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3E1A78"/>
                </a:solidFill>
                <a:latin typeface="Malgun Gothic"/>
              </a:rPr>
              <a:t>총서 · 총서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D9E"/>
            </a:gs>
            <a:gs pos="100000">
              <a:srgbClr val="B79BE3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3017520"/>
            <a:ext cx="4572000" cy="4572000"/>
          </a:xfrm>
          <a:prstGeom prst="ellipse">
            <a:avLst/>
          </a:prstGeom>
          <a:solidFill>
            <a:srgbClr val="9E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2286000"/>
            <a:ext cx="548640" cy="54864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9418320" y="2377440"/>
            <a:ext cx="365760" cy="365760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247120" y="2926080"/>
            <a:ext cx="237744" cy="237744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9144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Malgun Gothic"/>
              </a:rPr>
              <a:t>여러분의 꿈은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Malgun Gothic"/>
              </a:rPr>
              <a:t>무엇인가요?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47548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3EBFA"/>
            </a:gs>
            <a:gs pos="100000">
              <a:srgbClr val="D8C7E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CDB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8686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515600" y="1417320"/>
            <a:ext cx="292608" cy="29260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75720" y="41148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905256" cy="42062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3E1A78"/>
                </a:solidFill>
                <a:latin typeface="Malgun Gothic"/>
              </a:rPr>
              <a:t>꿈은 사람을 움직이는 힘입니다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3 /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60320"/>
            <a:ext cx="3301898" cy="33832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283464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나의 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2661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장래희망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이루고 싶은 목표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버킷리스트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26618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2A55"/>
                </a:solidFill>
                <a:latin typeface="Malgun Gothic"/>
              </a:rPr>
              <a:t>각자 품고 있는 꿈을 떠올려 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4898" y="2560320"/>
            <a:ext cx="3301898" cy="33832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64938" y="283464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가족의 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938" y="3474720"/>
            <a:ext cx="2661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가족을 향한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부모님의 바람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938" y="4983480"/>
            <a:ext cx="26618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2A55"/>
                </a:solidFill>
                <a:latin typeface="Malgun Gothic"/>
              </a:rPr>
              <a:t>나를 향한 부모님의 바람도 하나의 꿈입니다.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6836" y="2560320"/>
            <a:ext cx="3301898" cy="33832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6876" y="283464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세계의 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6876" y="3474720"/>
            <a:ext cx="2661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나라와 인류의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평화를 바라는 마음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6876" y="4983480"/>
            <a:ext cx="26618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2A55"/>
                </a:solidFill>
                <a:latin typeface="Malgun Gothic"/>
              </a:rPr>
              <a:t>꿈은 사람의 마음을 움직이는 힘입니다.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F1466"/>
            </a:gs>
            <a:gs pos="100000">
              <a:srgbClr val="7A4FC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097280"/>
            <a:ext cx="4023360" cy="4023360"/>
          </a:xfrm>
          <a:prstGeom prst="ellipse">
            <a:avLst/>
          </a:prstGeom>
          <a:solidFill>
            <a:srgbClr val="5B2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10424160" y="4480560"/>
            <a:ext cx="457200" cy="457200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1247120" y="5303520"/>
            <a:ext cx="274320" cy="274320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52120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0" b="1">
                <a:solidFill>
                  <a:srgbClr val="FFD23F"/>
                </a:solidFill>
                <a:latin typeface="Malgun Gothic"/>
              </a:rPr>
              <a:t>그런데 하늘부모님에게도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0" b="1">
                <a:solidFill>
                  <a:srgbClr val="FFD23F"/>
                </a:solidFill>
                <a:latin typeface="Malgun Gothic"/>
              </a:rPr>
              <a:t>꿈이 있다면?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algun Gothic"/>
              </a:rPr>
              <a:t>인류가 ‘꿈에도’ 몰랐던 하늘부모님의 꿈,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algun Gothic"/>
              </a:rPr>
              <a:t>하늘부모님이 ‘꿈에도 그리던’ 꿈을 소개합니다.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3EBFA"/>
            </a:gs>
            <a:gs pos="100000">
              <a:srgbClr val="D8C7E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CDB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8686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515600" y="1417320"/>
            <a:ext cx="292608" cy="29260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75720" y="41148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본론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3E1A78"/>
                </a:solidFill>
                <a:latin typeface="Malgun Gothic"/>
              </a:rPr>
              <a:t>우리가 꿈에도 몰랐던 사실은 무엇인가?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5 /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창조주 하늘부모님은 인류의 부모이시며, 하늘부모님에게도 꿈과 심정이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5090007" cy="2560320"/>
          </a:xfrm>
          <a:prstGeom prst="roundRect">
            <a:avLst>
              <a:gd name="adj" fmla="val 6000"/>
            </a:avLst>
          </a:prstGeom>
          <a:solidFill>
            <a:srgbClr val="5B2D9E"/>
          </a:solidFill>
          <a:ln w="15875">
            <a:solidFill>
              <a:srgbClr val="5B2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88720" y="365760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하늘부모님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435848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인류의 부모이며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꿈과 심정을 가지신 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383280"/>
            <a:ext cx="5090007" cy="256032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44487" y="365760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그동안의 인류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297680"/>
            <a:ext cx="435848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부모의 마음을 모른 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도움만 구하는 철부지 자녀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5303520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2A55"/>
                </a:solidFill>
                <a:latin typeface="Malgun Gothic"/>
              </a:rPr>
              <a:t>뿌리 없이 떠도는 부평초 같은 인생이었습니다.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3EBFA"/>
            </a:gs>
            <a:gs pos="100000">
              <a:srgbClr val="D8C7E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CDB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8686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515600" y="1417320"/>
            <a:ext cx="292608" cy="29260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75720" y="41148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본론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3E1A78"/>
                </a:solidFill>
                <a:latin typeface="Malgun Gothic"/>
              </a:rPr>
              <a:t>하늘부모님이 꿈에도 그리던 꿈은 무엇인가?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6 /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14600"/>
            <a:ext cx="10545775" cy="100584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2651760"/>
            <a:ext cx="731520" cy="731520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6517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514600"/>
            <a:ext cx="88998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인간과 하나 되어 같이 사는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03320"/>
            <a:ext cx="10545775" cy="100584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3840480"/>
            <a:ext cx="731520" cy="731520"/>
          </a:xfrm>
          <a:prstGeom prst="ellipse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840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703320"/>
            <a:ext cx="88998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함께 사는 집으로 지으신 천주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92040"/>
            <a:ext cx="10545775" cy="100584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5029200"/>
            <a:ext cx="731520" cy="73152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892040"/>
            <a:ext cx="88998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3E1A78"/>
                </a:solidFill>
                <a:latin typeface="Malgun Gothic"/>
              </a:rPr>
              <a:t>스스로 성장해 성혼한 한 남자와 한 여자가 하나 되는 천지인참부모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D9E"/>
            </a:gs>
            <a:gs pos="100000">
              <a:srgbClr val="B79BE3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1280160"/>
            <a:ext cx="4389120" cy="4389120"/>
          </a:xfrm>
          <a:prstGeom prst="ellipse">
            <a:avLst/>
          </a:prstGeom>
          <a:solidFill>
            <a:srgbClr val="9E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914400"/>
            <a:ext cx="5394960" cy="2743200"/>
          </a:xfrm>
          <a:prstGeom prst="ellipse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103120"/>
            <a:ext cx="548640" cy="54864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247120" y="1371600"/>
            <a:ext cx="365760" cy="365760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704320" y="2103120"/>
            <a:ext cx="237744" cy="237744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82296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본론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algun Gothic"/>
              </a:rPr>
              <a:t>인류 한 가족 세계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4480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59" y="342900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7772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</a:rPr>
              <a:t>천지인참부모를 중심으로 하나 된 이 세계가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lgun Gothic"/>
              </a:rPr>
              <a:t>곧 </a:t>
            </a:r>
            <a:r>
              <a:rPr sz="2800" b="1">
                <a:solidFill>
                  <a:srgbClr val="FFD23F"/>
                </a:solidFill>
                <a:latin typeface="Malgun Gothic"/>
              </a:rPr>
              <a:t>참부모이상</a:t>
            </a:r>
            <a:r>
              <a:rPr sz="2800" b="0">
                <a:solidFill>
                  <a:srgbClr val="FFFFFF"/>
                </a:solidFill>
                <a:latin typeface="Malgun Gothic"/>
              </a:rPr>
              <a:t>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3EBFA"/>
            </a:gs>
            <a:gs pos="100000">
              <a:srgbClr val="D8C7E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CDB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8686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515600" y="1417320"/>
            <a:ext cx="292608" cy="29260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75720" y="41148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5349240" cy="42062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본론 3 · 앞으로의 여정 미리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3E1A78"/>
                </a:solidFill>
                <a:latin typeface="Malgun Gothic"/>
              </a:rPr>
              <a:t>그 꿈은 어떻게 이루어져 왔는가?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8 /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43200"/>
            <a:ext cx="2327833" cy="29260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37560"/>
            <a:ext cx="17791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5B2D9E"/>
                </a:solidFill>
                <a:latin typeface="Malgun Gothic"/>
              </a:rPr>
              <a:t>1~2장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177919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3E1A78"/>
                </a:solidFill>
                <a:latin typeface="Malgun Gothic"/>
              </a:rPr>
              <a:t>창조와 타락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87369" y="3977639"/>
            <a:ext cx="338328" cy="365760"/>
          </a:xfrm>
          <a:prstGeom prst="rightArrow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2273" y="2743200"/>
            <a:ext cx="2327833" cy="29260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36593" y="30175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6593" y="3337560"/>
            <a:ext cx="17791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5B2D9E"/>
                </a:solidFill>
                <a:latin typeface="Malgun Gothic"/>
              </a:rPr>
              <a:t>3~4장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6593" y="3886200"/>
            <a:ext cx="177919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3E1A78"/>
                </a:solidFill>
                <a:latin typeface="Malgun Gothic"/>
              </a:rPr>
              <a:t>이스라엘 선민과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3E1A78"/>
                </a:solidFill>
                <a:latin typeface="Malgun Gothic"/>
              </a:rPr>
              <a:t>독생자 예수님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26683" y="3977639"/>
            <a:ext cx="338328" cy="365760"/>
          </a:xfrm>
          <a:prstGeom prst="rightArrow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1587" y="2743200"/>
            <a:ext cx="2327833" cy="29260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5907" y="30175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5907" y="3337560"/>
            <a:ext cx="17791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5B2D9E"/>
                </a:solidFill>
                <a:latin typeface="Malgun Gothic"/>
              </a:rPr>
              <a:t>5~7장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5907" y="3886200"/>
            <a:ext cx="177919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3E1A78"/>
                </a:solidFill>
                <a:latin typeface="Malgun Gothic"/>
              </a:rPr>
              <a:t>한민족 선민과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3E1A78"/>
                </a:solidFill>
                <a:latin typeface="Malgun Gothic"/>
              </a:rPr>
              <a:t>참부모님 현현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65997" y="3977639"/>
            <a:ext cx="338328" cy="365760"/>
          </a:xfrm>
          <a:prstGeom prst="rightArrow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40901" y="2743200"/>
            <a:ext cx="2327833" cy="2926080"/>
          </a:xfrm>
          <a:prstGeom prst="roundRect">
            <a:avLst>
              <a:gd name="adj" fmla="val 6000"/>
            </a:avLst>
          </a:prstGeom>
          <a:solidFill>
            <a:srgbClr val="5B2D9E"/>
          </a:solidFill>
          <a:ln w="15875">
            <a:solidFill>
              <a:srgbClr val="5B2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15221" y="30175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15221" y="3337560"/>
            <a:ext cx="17791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FFD23F"/>
                </a:solidFill>
                <a:latin typeface="Malgun Gothic"/>
              </a:rPr>
              <a:t>8~9장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5221" y="3886200"/>
            <a:ext cx="177919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참부모님의 섭리와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천일국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3EBFA"/>
            </a:gs>
            <a:gs pos="100000">
              <a:srgbClr val="D8C7E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CDB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868680"/>
            <a:ext cx="457200" cy="45720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0515600" y="1417320"/>
            <a:ext cx="292608" cy="292608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75720" y="41148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400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3E1A78"/>
                </a:solidFill>
                <a:latin typeface="Malgun Gothic"/>
              </a:rPr>
              <a:t>나의 꿈과 하늘부모님의 꿈은 어떻게 연결될까?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5A93"/>
                </a:solidFill>
                <a:latin typeface="Malgun Gothic"/>
              </a:rPr>
              <a:t>9 / 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60320"/>
            <a:ext cx="5090007" cy="3383280"/>
          </a:xfrm>
          <a:prstGeom prst="roundRect">
            <a:avLst>
              <a:gd name="adj" fmla="val 6000"/>
            </a:avLst>
          </a:prstGeom>
          <a:solidFill>
            <a:srgbClr val="FBF8FE"/>
          </a:solidFill>
          <a:ln w="15875">
            <a:solidFill>
              <a:srgbClr val="C9B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283464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다시 떠올려 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40"/>
            <a:ext cx="43584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3E1A78"/>
                </a:solidFill>
                <a:latin typeface="Malgun Gothic"/>
              </a:rPr>
              <a:t>도입에서 떠올린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3E1A78"/>
                </a:solidFill>
                <a:latin typeface="Malgun Gothic"/>
              </a:rPr>
              <a:t>나의 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54880"/>
            <a:ext cx="43584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B2A55"/>
                </a:solidFill>
                <a:latin typeface="Malgun Gothic"/>
              </a:rPr>
              <a:t>인간의 모든 꿈은 결국 하늘부모님의 꿈에서 비롯되었습니다.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2560320"/>
            <a:ext cx="5090007" cy="3383280"/>
          </a:xfrm>
          <a:prstGeom prst="roundRect">
            <a:avLst>
              <a:gd name="adj" fmla="val 6000"/>
            </a:avLst>
          </a:prstGeom>
          <a:solidFill>
            <a:srgbClr val="5B2D9E"/>
          </a:solidFill>
          <a:ln w="15875">
            <a:solidFill>
              <a:srgbClr val="5B2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44487" y="283464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본질은 같습니다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3520440"/>
            <a:ext cx="43584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사랑으로 함께 살며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행복을 이루는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754880"/>
            <a:ext cx="435848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E7DBF7"/>
                </a:solidFill>
                <a:latin typeface="Malgun Gothic"/>
              </a:rPr>
              <a:t>나의 꿈과 하늘부모님의 꿈은 본질적으로 다르지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D9E"/>
            </a:gs>
            <a:gs pos="100000">
              <a:srgbClr val="B79BE3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188720"/>
            <a:ext cx="3291840" cy="3291840"/>
          </a:xfrm>
          <a:prstGeom prst="ellipse">
            <a:avLst/>
          </a:prstGeom>
          <a:solidFill>
            <a:srgbClr val="9E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10881360" y="1554480"/>
            <a:ext cx="274320" cy="274320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1430000" y="548640"/>
            <a:ext cx="201168" cy="201168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4008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앞으로의 강의에서 함께 찾아갈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9032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75104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51176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27248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10312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651760"/>
            <a:ext cx="3301898" cy="2286000"/>
          </a:xfrm>
          <a:prstGeom prst="roundRect">
            <a:avLst>
              <a:gd name="adj" fmla="val 6000"/>
            </a:avLst>
          </a:prstGeom>
          <a:solidFill>
            <a:srgbClr val="7F55C6"/>
          </a:solidFill>
          <a:ln w="15875">
            <a:solidFill>
              <a:srgbClr val="A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292608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질문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66160"/>
            <a:ext cx="26618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나는 누구인가?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4898" y="2651760"/>
            <a:ext cx="3301898" cy="2286000"/>
          </a:xfrm>
          <a:prstGeom prst="roundRect">
            <a:avLst>
              <a:gd name="adj" fmla="val 6000"/>
            </a:avLst>
          </a:prstGeom>
          <a:solidFill>
            <a:srgbClr val="7F55C6"/>
          </a:solidFill>
          <a:ln w="15875">
            <a:solidFill>
              <a:srgbClr val="A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64938" y="292608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질문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3566160"/>
            <a:ext cx="26618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어디에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서 있는가?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6836" y="2651760"/>
            <a:ext cx="3301898" cy="2286000"/>
          </a:xfrm>
          <a:prstGeom prst="roundRect">
            <a:avLst>
              <a:gd name="adj" fmla="val 6000"/>
            </a:avLst>
          </a:prstGeom>
          <a:solidFill>
            <a:srgbClr val="7F55C6"/>
          </a:solidFill>
          <a:ln w="15875">
            <a:solidFill>
              <a:srgbClr val="A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6876" y="292608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질문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566160"/>
            <a:ext cx="26618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무엇을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해야 하는가?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F1E8FB"/>
                </a:solidFill>
                <a:latin typeface="Malgun Gothic"/>
              </a:rPr>
              <a:t>‘나는 누구이고, 어디에 서 있으며, 무엇을 해야 하는가’의 답을 함께 찾아가기를 제안합니다.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F1466"/>
            </a:gs>
            <a:gs pos="100000">
              <a:srgbClr val="7A4FC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2011680"/>
            <a:ext cx="5029200" cy="5029200"/>
          </a:xfrm>
          <a:prstGeom prst="ellipse">
            <a:avLst/>
          </a:prstGeom>
          <a:solidFill>
            <a:srgbClr val="5B2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1737360"/>
            <a:ext cx="5120640" cy="2560320"/>
          </a:xfrm>
          <a:prstGeom prst="ellipse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926080"/>
            <a:ext cx="502920" cy="502920"/>
          </a:xfrm>
          <a:prstGeom prst="ellipse">
            <a:avLst/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155680" y="1280160"/>
            <a:ext cx="411480" cy="411480"/>
          </a:xfrm>
          <a:prstGeom prst="star5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795760" y="2011680"/>
            <a:ext cx="256032" cy="256032"/>
          </a:xfrm>
          <a:prstGeom prst="star5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82296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3E1A78"/>
                </a:solidFill>
                <a:latin typeface="Malgun Gothic"/>
              </a:rPr>
              <a:t>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하늘부모님의 꿈이 이루어질 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나의 꿈도 참된 의미를 찾습니다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4480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59" y="406908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8A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D23F"/>
                </a:solidFill>
                <a:latin typeface="Malgun Gothic"/>
              </a:rPr>
              <a:t>나는 하늘부모님이 꿈에도 그리던 그 꿈의 주인공입니다.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참부모론 해설 · 총서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9935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9C8F2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